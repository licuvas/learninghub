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87A1E"/>
                </a:solidFill>
              </a:rPr>
              <a:t>Calculatorul Meu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2020"/>
                </a:solidFill>
              </a:rPr>
              <a:t>Componente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99032"/>
            <a:ext cx="457200" cy="411480"/>
          </a:xfrm>
          <a:prstGeom prst="rect">
            <a:avLst/>
          </a:prstGeom>
          <a:solidFill>
            <a:srgbClr val="1F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6FD1"/>
                </a:solidFill>
              </a:rPr>
              <a:t>Monitor - Output</a:t>
            </a:r>
          </a:p>
          <a:p>
            <a:r>
              <a:rPr sz="1200" b="0">
                <a:solidFill>
                  <a:srgbClr val="1F6FD1"/>
                </a:solidFill>
              </a:rPr>
              <a:t>afiseaza imagini si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57400"/>
            <a:ext cx="457200" cy="411480"/>
          </a:xfrm>
          <a:prstGeom prst="rect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E9E44"/>
                </a:solidFill>
              </a:rPr>
              <a:t>Tastatura - Input</a:t>
            </a:r>
          </a:p>
          <a:p>
            <a:r>
              <a:rPr sz="1200" b="0">
                <a:solidFill>
                  <a:srgbClr val="2E9E44"/>
                </a:solidFill>
              </a:rPr>
              <a:t>introduc text si comenzi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2715768"/>
            <a:ext cx="457200" cy="4114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42615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E9E44"/>
                </a:solidFill>
              </a:rPr>
              <a:t>Mouse - Input</a:t>
            </a:r>
          </a:p>
          <a:p>
            <a:r>
              <a:rPr sz="1200" b="0">
                <a:solidFill>
                  <a:srgbClr val="2E9E44"/>
                </a:solidFill>
              </a:rPr>
              <a:t>controlez cursorul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374136"/>
            <a:ext cx="457200" cy="411480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00984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B3FB5"/>
                </a:solidFill>
              </a:rPr>
              <a:t>Procesor (CPU) - Intern</a:t>
            </a:r>
          </a:p>
          <a:p>
            <a:r>
              <a:rPr sz="1200" b="0">
                <a:solidFill>
                  <a:srgbClr val="7B3FB5"/>
                </a:solidFill>
              </a:rPr>
              <a:t>proceseaza toate datele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032504"/>
            <a:ext cx="457200" cy="411480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5935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B3FB5"/>
                </a:solidFill>
              </a:rPr>
              <a:t>Memorie RAM - Intern</a:t>
            </a:r>
          </a:p>
          <a:p>
            <a:r>
              <a:rPr sz="1200" b="0">
                <a:solidFill>
                  <a:srgbClr val="7B3FB5"/>
                </a:solidFill>
              </a:rPr>
              <a:t>memorie rapida pentru aplicatiile deschise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90872"/>
            <a:ext cx="457200" cy="411480"/>
          </a:xfrm>
          <a:prstGeom prst="rect">
            <a:avLst/>
          </a:prstGeom>
          <a:solidFill>
            <a:srgbClr val="7B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B3FB5"/>
                </a:solidFill>
              </a:rPr>
              <a:t>Hard Disk - Stocare</a:t>
            </a:r>
          </a:p>
          <a:p>
            <a:r>
              <a:rPr sz="1200" b="0">
                <a:solidFill>
                  <a:srgbClr val="7B3FB5"/>
                </a:solidFill>
              </a:rPr>
              <a:t>stocare permanenta a fisierelor</a:t>
            </a:r>
          </a:p>
        </p:txBody>
      </p:sp>
      <p:sp>
        <p:nvSpPr>
          <p:cNvPr id="16" name="Oval 15"/>
          <p:cNvSpPr/>
          <p:nvPr/>
        </p:nvSpPr>
        <p:spPr>
          <a:xfrm>
            <a:off x="320040" y="5349240"/>
            <a:ext cx="457200" cy="411480"/>
          </a:xfrm>
          <a:prstGeom prst="ellipse">
            <a:avLst/>
          </a:prstGeom>
          <a:solidFill>
            <a:srgbClr val="1F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760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6FD1"/>
                </a:solidFill>
              </a:rPr>
              <a:t>Boxe - Output</a:t>
            </a:r>
          </a:p>
          <a:p>
            <a:r>
              <a:rPr sz="1200" b="0">
                <a:solidFill>
                  <a:srgbClr val="1F6FD1"/>
                </a:solidFill>
              </a:rPr>
              <a:t>reproduc sunete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6007608"/>
            <a:ext cx="457200" cy="411480"/>
          </a:xfrm>
          <a:prstGeom prst="rect">
            <a:avLst/>
          </a:prstGeom>
          <a:solidFill>
            <a:srgbClr val="1F6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93445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6FD1"/>
                </a:solidFill>
              </a:rPr>
              <a:t>Imprimanta - Output</a:t>
            </a:r>
          </a:p>
          <a:p>
            <a:r>
              <a:rPr sz="1200" b="0">
                <a:solidFill>
                  <a:srgbClr val="1F6FD1"/>
                </a:solidFill>
              </a:rPr>
              <a:t>tipareste documente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9144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2020"/>
                </a:solidFill>
              </a:rPr>
              <a:t>Input /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3258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E9E44"/>
                </a:solidFill>
              </a:rPr>
              <a:t>INPUT (Intrare):</a:t>
            </a:r>
          </a:p>
          <a:p>
            <a:r>
              <a:rPr sz="1200" b="0">
                <a:solidFill>
                  <a:srgbClr val="2E9E44"/>
                </a:solidFill>
              </a:rPr>
              <a:t>Tastatura</a:t>
            </a:r>
          </a:p>
          <a:p>
            <a:r>
              <a:rPr sz="1200" b="0">
                <a:solidFill>
                  <a:srgbClr val="2E9E44"/>
                </a:solidFill>
              </a:rPr>
              <a:t>Mouse</a:t>
            </a:r>
          </a:p>
          <a:p>
            <a:r>
              <a:rPr sz="1200" b="0">
                <a:solidFill>
                  <a:srgbClr val="2E9E44"/>
                </a:solidFill>
              </a:rPr>
              <a:t>Scanner</a:t>
            </a:r>
          </a:p>
          <a:p>
            <a:r>
              <a:rPr sz="1200" b="0">
                <a:solidFill>
                  <a:srgbClr val="2E9E44"/>
                </a:solidFill>
              </a:rPr>
              <a:t>Microfon</a:t>
            </a:r>
          </a:p>
          <a:p>
            <a:r>
              <a:rPr sz="1200" b="0">
                <a:solidFill>
                  <a:srgbClr val="2E9E44"/>
                </a:solidFill>
              </a:rPr>
              <a:t>Camera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1546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6FD1"/>
                </a:solidFill>
              </a:rPr>
              <a:t>OUTPUT (Iesire):</a:t>
            </a:r>
          </a:p>
          <a:p>
            <a:r>
              <a:rPr sz="1200" b="0">
                <a:solidFill>
                  <a:srgbClr val="1F6FD1"/>
                </a:solidFill>
              </a:rPr>
              <a:t>Monitor</a:t>
            </a:r>
          </a:p>
          <a:p>
            <a:r>
              <a:rPr sz="1200" b="0">
                <a:solidFill>
                  <a:srgbClr val="1F6FD1"/>
                </a:solidFill>
              </a:rPr>
              <a:t>Imprimanta</a:t>
            </a:r>
          </a:p>
          <a:p>
            <a:r>
              <a:rPr sz="1200" b="0">
                <a:solidFill>
                  <a:srgbClr val="1F6FD1"/>
                </a:solidFill>
              </a:rPr>
              <a:t>Boxe</a:t>
            </a:r>
          </a:p>
          <a:p>
            <a:r>
              <a:rPr sz="1200" b="0">
                <a:solidFill>
                  <a:srgbClr val="1F6FD1"/>
                </a:solidFill>
              </a:rPr>
              <a:t>Casti</a:t>
            </a:r>
          </a:p>
          <a:p>
            <a:r>
              <a:rPr sz="1200" b="0">
                <a:solidFill>
                  <a:srgbClr val="1F6FD1"/>
                </a:solidFill>
              </a:rPr>
              <a:t>Videoproiector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914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2020"/>
                </a:solidFill>
              </a:rPr>
              <a:t>Hard vs 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3258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B3FB5"/>
                </a:solidFill>
              </a:rPr>
              <a:t>HARDWARE (il atingi):</a:t>
            </a:r>
          </a:p>
          <a:p>
            <a:r>
              <a:rPr sz="1200" b="0">
                <a:solidFill>
                  <a:srgbClr val="7B3FB5"/>
                </a:solidFill>
              </a:rPr>
              <a:t>Monitor</a:t>
            </a:r>
          </a:p>
          <a:p>
            <a:r>
              <a:rPr sz="1200" b="0">
                <a:solidFill>
                  <a:srgbClr val="7B3FB5"/>
                </a:solidFill>
              </a:rPr>
              <a:t>Tastatura</a:t>
            </a:r>
          </a:p>
          <a:p>
            <a:r>
              <a:rPr sz="1200" b="0">
                <a:solidFill>
                  <a:srgbClr val="7B3FB5"/>
                </a:solidFill>
              </a:rPr>
              <a:t>Procesor</a:t>
            </a:r>
          </a:p>
          <a:p>
            <a:r>
              <a:rPr sz="1200" b="0">
                <a:solidFill>
                  <a:srgbClr val="7B3FB5"/>
                </a:solidFill>
              </a:rPr>
              <a:t>Placa video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15468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6FD1"/>
                </a:solidFill>
              </a:rPr>
              <a:t>SOFTWARE (il instalezi):</a:t>
            </a:r>
          </a:p>
          <a:p>
            <a:r>
              <a:rPr sz="1200" b="0">
                <a:solidFill>
                  <a:srgbClr val="1F6FD1"/>
                </a:solidFill>
              </a:rPr>
              <a:t>Windows</a:t>
            </a:r>
          </a:p>
          <a:p>
            <a:r>
              <a:rPr sz="1200" b="0">
                <a:solidFill>
                  <a:srgbClr val="1F6FD1"/>
                </a:solidFill>
              </a:rPr>
              <a:t>Microsoft Word</a:t>
            </a:r>
          </a:p>
          <a:p>
            <a:r>
              <a:rPr sz="1200" b="0">
                <a:solidFill>
                  <a:srgbClr val="1F6FD1"/>
                </a:solidFill>
              </a:rPr>
              <a:t>Google Chrome</a:t>
            </a:r>
          </a:p>
          <a:p>
            <a:r>
              <a:rPr sz="1200" b="0">
                <a:solidFill>
                  <a:srgbClr val="1F6FD1"/>
                </a:solidFill>
              </a:rPr>
              <a:t>Jocuri video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914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2020"/>
                </a:solidFill>
              </a:rPr>
              <a:t>Reguli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13258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87A1E"/>
                </a:solidFill>
              </a:rPr>
              <a:t>ERGONOMIE:</a:t>
            </a:r>
          </a:p>
          <a:p>
            <a:r>
              <a:rPr sz="1100" b="0">
                <a:solidFill>
                  <a:srgbClr val="E87A1E"/>
                </a:solidFill>
              </a:rPr>
              <a:t>1. Spatele drept</a:t>
            </a:r>
          </a:p>
          <a:p>
            <a:r>
              <a:rPr sz="1100" b="0">
                <a:solidFill>
                  <a:srgbClr val="E87A1E"/>
                </a:solidFill>
              </a:rPr>
              <a:t>2. Monitorul la nivelul ochilor</a:t>
            </a:r>
          </a:p>
          <a:p>
            <a:r>
              <a:rPr sz="1100" b="0">
                <a:solidFill>
                  <a:srgbClr val="E87A1E"/>
                </a:solidFill>
              </a:rPr>
              <a:t>3. Pauza 2-3 min la 45-60 min</a:t>
            </a:r>
          </a:p>
          <a:p>
            <a:r>
              <a:rPr sz="1100" b="0">
                <a:solidFill>
                  <a:srgbClr val="E87A1E"/>
                </a:solidFill>
              </a:rPr>
              <a:t>4. Lumina suficienta</a:t>
            </a:r>
          </a:p>
          <a:p>
            <a:r>
              <a:rPr sz="1100" b="0">
                <a:solidFill>
                  <a:srgbClr val="E87A1E"/>
                </a:solidFill>
              </a:rPr>
              <a:t>5. Distanta 50-70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79476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02020"/>
                </a:solidFill>
              </a:rPr>
              <a:t>LABORATOR:</a:t>
            </a:r>
          </a:p>
          <a:p>
            <a:r>
              <a:rPr sz="1100" b="0">
                <a:solidFill>
                  <a:srgbClr val="202020"/>
                </a:solidFill>
              </a:rPr>
              <a:t>1. Nu mananc/beau langa PC</a:t>
            </a:r>
          </a:p>
          <a:p>
            <a:r>
              <a:rPr sz="1100" b="0">
                <a:solidFill>
                  <a:srgbClr val="202020"/>
                </a:solidFill>
              </a:rPr>
              <a:t>2. Nu ating ecranul</a:t>
            </a:r>
          </a:p>
          <a:p>
            <a:r>
              <a:rPr sz="1100" b="0">
                <a:solidFill>
                  <a:srgbClr val="202020"/>
                </a:solidFill>
              </a:rPr>
              <a:t>3. Inchid corect (Start - Shut Down)</a:t>
            </a:r>
          </a:p>
          <a:p>
            <a:r>
              <a:rPr sz="1100" b="0">
                <a:solidFill>
                  <a:srgbClr val="202020"/>
                </a:solidFill>
              </a:rPr>
              <a:t>4. Anunt profesorul daca se strica ceva</a:t>
            </a:r>
          </a:p>
          <a:p>
            <a:r>
              <a:rPr sz="1100" b="0">
                <a:solidFill>
                  <a:srgbClr val="202020"/>
                </a:solidFill>
              </a:rPr>
              <a:t>5. Las locul curat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526280" y="5120640"/>
            <a:ext cx="822960" cy="320040"/>
          </a:xfrm>
          <a:prstGeom prst="rightArrow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5029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</a:rPr>
              <a:t>Tastatura -&gt; Calculator -&gt;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