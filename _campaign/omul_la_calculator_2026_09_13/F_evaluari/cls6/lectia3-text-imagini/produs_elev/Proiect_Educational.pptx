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300000"/>
            <a:ext cx="110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>
                <a:gradFill>
                  <a:gsLst>
                    <a:gs pos="0">
                      <a:srgbClr val="2E86DE"/>
                    </a:gs>
                    <a:gs pos="100000">
                      <a:srgbClr val="8E44AD"/>
                    </a:gs>
                  </a:gsLst>
                </a:gradFill>
                <a:latin typeface="Calibri"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Delfinul</a:t>
            </a:r>
          </a:p>
        </p:txBody>
      </p:sp>
      <p:pic>
        <p:nvPicPr>
          <p:cNvPr id="3" name="Picture 2" descr="delfin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0" y="1900000"/>
            <a:ext cx="8000000" cy="450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300000"/>
            <a:ext cx="110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3A93"/>
                </a:solidFill>
                <a:latin typeface="Calibri"/>
              </a:rPr>
              <a:t>Cuprins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500000"/>
            <a:ext cx="80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sz="2800" b="0">
                <a:solidFill>
                  <a:srgbClr val="000000"/>
                </a:solidFill>
                <a:latin typeface="Calibri"/>
              </a:rPr>
              <a:t>Infatisare</a:t>
            </a:r>
          </a:p>
          <a:p>
            <a:pPr marL="457200" indent="-457200">
              <a:buFont typeface="+mj-lt"/>
              <a:buAutoNum type="arabicPeriod"/>
            </a:pPr>
            <a:r>
              <a:rPr sz="2800" b="0">
                <a:solidFill>
                  <a:srgbClr val="000000"/>
                </a:solidFill>
                <a:latin typeface="Calibri"/>
              </a:rPr>
              <a:t>Habitat</a:t>
            </a:r>
          </a:p>
          <a:p>
            <a:pPr marL="457200" indent="-457200">
              <a:buFont typeface="+mj-lt"/>
              <a:buAutoNum type="arabicPeriod"/>
            </a:pPr>
            <a:r>
              <a:rPr sz="2800" b="0">
                <a:solidFill>
                  <a:srgbClr val="000000"/>
                </a:solidFill>
                <a:latin typeface="Calibri"/>
              </a:rPr>
              <a:t>Hrana</a:t>
            </a:r>
          </a:p>
          <a:p>
            <a:pPr marL="457200" indent="-457200">
              <a:buFont typeface="+mj-lt"/>
              <a:buAutoNum type="arabicPeriod"/>
            </a:pPr>
            <a:r>
              <a:rPr sz="2800" b="0">
                <a:solidFill>
                  <a:srgbClr val="000000"/>
                </a:solidFill>
                <a:latin typeface="Calibri"/>
              </a:rPr>
              <a:t>Comportament</a:t>
            </a:r>
          </a:p>
          <a:p>
            <a:pPr marL="457200" indent="-457200">
              <a:buFont typeface="+mj-lt"/>
              <a:buAutoNum type="arabicPeriod"/>
            </a:pPr>
            <a:r>
              <a:rPr sz="2800" b="0">
                <a:solidFill>
                  <a:srgbClr val="000000"/>
                </a:solidFill>
                <a:latin typeface="Calibri"/>
              </a:rPr>
              <a:t>Etapele vietii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300000"/>
            <a:ext cx="110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3A93"/>
                </a:solidFill>
                <a:latin typeface="Calibri"/>
              </a:rPr>
              <a:t>Infatisare</a:t>
            </a:r>
          </a:p>
        </p:txBody>
      </p:sp>
      <p:pic>
        <p:nvPicPr>
          <p:cNvPr id="3" name="Picture 2" descr="delfin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000" y="1600000"/>
            <a:ext cx="7111111" cy="400000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600000" y="1600000"/>
            <a:ext cx="55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sz="2800" b="0">
                <a:solidFill>
                  <a:srgbClr val="000000"/>
                </a:solidFill>
                <a:latin typeface="Calibri"/>
              </a:rPr>
              <a:t>Corp lung si neted</a:t>
            </a:r>
          </a:p>
          <a:p>
            <a:pPr marL="457200" indent="-457200">
              <a:buFont typeface="Arial"/>
              <a:buChar char="•"/>
            </a:pPr>
            <a:r>
              <a:rPr sz="2800" b="0">
                <a:solidFill>
                  <a:srgbClr val="000000"/>
                </a:solidFill>
                <a:latin typeface="Calibri"/>
              </a:rPr>
              <a:t>Respira aer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300000"/>
            <a:ext cx="110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3A93"/>
                </a:solidFill>
                <a:latin typeface="Calibri"/>
              </a:rPr>
              <a:t>Habitat</a:t>
            </a:r>
          </a:p>
        </p:txBody>
      </p:sp>
      <p:pic>
        <p:nvPicPr>
          <p:cNvPr id="3" name="Picture 2" descr="delfin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000" y="1600000"/>
            <a:ext cx="7111111" cy="40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1600000"/>
            <a:ext cx="55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sz="2800" b="0">
                <a:solidFill>
                  <a:srgbClr val="000000"/>
                </a:solidFill>
                <a:latin typeface="Calibri"/>
              </a:rPr>
              <a:t>Mari si oceane calde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300000"/>
            <a:ext cx="110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3A93"/>
                </a:solidFill>
                <a:latin typeface="Calibri"/>
              </a:rPr>
              <a:t>Hrana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248000" y="2629000"/>
            <a:ext cx="9696000" cy="1600000"/>
            <a:chOff x="1248000" y="2629000"/>
            <a:chExt cx="9696000" cy="1600000"/>
          </a:xfrm>
        </p:grpSpPr>
        <p:sp>
          <p:nvSpPr>
            <p:cNvPr id="4" name="Oval 3"/>
            <p:cNvSpPr/>
            <p:nvPr/>
          </p:nvSpPr>
          <p:spPr>
            <a:xfrm>
              <a:off x="1248000" y="2629000"/>
              <a:ext cx="2400000" cy="160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2400"/>
                <a:t>Pesti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4896000" y="2629000"/>
              <a:ext cx="2400000" cy="1600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2400"/>
                <a:t>Calamari</a:t>
              </a:r>
            </a:p>
          </p:txBody>
        </p:sp>
        <p:sp>
          <p:nvSpPr>
            <p:cNvPr id="6" name="Right Arrow 5"/>
            <p:cNvSpPr/>
            <p:nvPr/>
          </p:nvSpPr>
          <p:spPr>
            <a:xfrm>
              <a:off x="8544000" y="2629000"/>
              <a:ext cx="2400000" cy="160000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2400"/>
                <a:t>Creveti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300000"/>
            <a:ext cx="110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3A93"/>
                </a:solidFill>
                <a:latin typeface="Calibri"/>
              </a:rPr>
              <a:t>Comportament</a:t>
            </a:r>
          </a:p>
        </p:txBody>
      </p:sp>
      <p:pic>
        <p:nvPicPr>
          <p:cNvPr id="3" name="Picture 2" descr="delfin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000" y="1600000"/>
            <a:ext cx="7111111" cy="40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1600000"/>
            <a:ext cx="55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sz="2800" b="0">
                <a:solidFill>
                  <a:srgbClr val="000000"/>
                </a:solidFill>
                <a:latin typeface="Calibri"/>
              </a:rPr>
              <a:t>Traiesc in grupuri</a:t>
            </a:r>
          </a:p>
          <a:p>
            <a:pPr marL="457200" indent="-457200">
              <a:buFont typeface="Arial"/>
              <a:buChar char="•"/>
            </a:pPr>
            <a:r>
              <a:rPr sz="2800" b="0">
                <a:solidFill>
                  <a:srgbClr val="000000"/>
                </a:solidFill>
                <a:latin typeface="Calibri"/>
              </a:rPr>
              <a:t>Comunica prin sunete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300000"/>
            <a:ext cx="110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3A93"/>
                </a:solidFill>
                <a:latin typeface="Calibri"/>
              </a:rPr>
              <a:t>Etapele vietii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600000"/>
            <a:ext cx="110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7F7F7F"/>
                </a:solidFill>
                <a:latin typeface="Calibri"/>
              </a:rPr>
              <a:t>[SmartArt Process: NU se poate crea in fisier cu python-pptx - pas interfata]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300000"/>
            <a:ext cx="110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3A93"/>
                </a:solidFill>
                <a:latin typeface="Calibri"/>
              </a:rPr>
              <a:t>Multumesc!</a:t>
            </a:r>
          </a:p>
        </p:txBody>
      </p:sp>
      <p:pic>
        <p:nvPicPr>
          <p:cNvPr id="3" name="Picture 2" descr="delfi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0" y="1900000"/>
            <a:ext cx="8000000" cy="45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